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Relationship Id="rId19" Type="http://schemas.openxmlformats.org/officeDocument/2006/relationships/slide" Target="slides/slide12.xml"/>
<Relationship Id="rId20" Type="http://schemas.openxmlformats.org/officeDocument/2006/relationships/slide" Target="slides/slide13.xml"/>
<Relationship Id="rId21" Type="http://schemas.openxmlformats.org/officeDocument/2006/relationships/slide" Target="slides/slide14.xml"/>
<Relationship Id="rId22" Type="http://schemas.openxmlformats.org/officeDocument/2006/relationships/slide" Target="slides/slide15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398088984ec1e750570ce3fa036e16c8eddf7693.png"/>
<Relationship Id="rId3" Type="http://schemas.openxmlformats.org/officeDocument/2006/relationships/image" Target="../media/f9baf2f613c768f9c3edbd4a36f30d51d4e2def9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84799d2fd0c507c82bf0ab86d9decc08541e621e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86260041128c4b424989e20ed6c07a887460298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a0e14196874f0ea8725bb82a36348504b097d3c4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Molecular Subtyping of AML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BeatAML Multi-Omics Integration Project
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Objective: Identify molecular subtypes of AML and characterize their clinical implications
Approach:
• Multi-omics integration (expression, mutations, clinical, drug response)
• Consensus clustering with 1,000 bootstrap iterations
• Pathway enrichment analysis (50 Hallmark pathways)
• Survival analysis and drug response integration
Sample size: 478 patients with complete multi-omics profiles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Quality Control: Batch Effect Correction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457200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029200" y="1371600"/>
            <a:ext cx="4114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Key Finding 1: Two Robust Molecular Subtypes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Discovery:
• Consensus clustering identified k=2 as optimal
• Cluster 1: 320 patients (45.3%) - Proliferative subtype
• Cluster 2: 387 patients (54.7%) - Immune-Inflammatory subtype
• High consensus score (0.797) = robust classification
Evidence:
• 1,000 bootstrap iterations with 80% subsampling
• Silhouette analysis confirmed optimal k=2
• Hierarchical clustering with Pearson correlation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548640"/>
          </a:xfrm>
        </p:spPr>
        <p:txBody>
          <a:bodyPr/>
          <a:lstStyle/>
          <a:p>
            <a:r>
              <a:rPr/>
              <a:t>Consensus Clustering Results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Key Finding 2: Distinct Biological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/>
              <a:t>Proliferative Subtype
(Cluster 1):
↑ MYC_TARGETS
↑ E2F_TARGETS
  (cell cycle)
↑ DNA_REPAIR
↑ G2M_CHECKPOINT
↓ INFLAMMATORY
  _RESPONSE
↓ COMPLEMENT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r>
              <a:rPr/>
              <a:t>Immune-Inflammatory
Subtype (Cluster 2):
↑ INFLAMMATORY
  _RESPONSE
↑ COMPLEMENT
↑ PI3K_AKT_MTOR
↑ TNFA_SIGNALING
↓ MYC_TARGETS
↓ DNA_REPAIR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548640"/>
          </a:xfrm>
        </p:spPr>
        <p:txBody>
          <a:bodyPr/>
          <a:lstStyle/>
          <a:p>
            <a:r>
              <a:rPr/>
              <a:t>Pathway Enrichment by Molecular Subtype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Key Finding 3: Significant Survival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Survival Outcomes:
Proliferative (Cluster 1):       19.1 months median survival
Immune-Inflammatory (Cluster 2): 11.8 months median survival
Difference:                       +7.3 months (62% improvement)
Statistical Significance:
• Log-rank test: p = 0.00155 (highly significant)
• Cox regression: HR = 1.38 (95% CI: 1.13-1.68)
• C-index: 0.58 (predictive value)
Clinical Interpretation:
Immune-Inflammatory subtype has 38% higher risk of death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548640"/>
          </a:xfrm>
        </p:spPr>
        <p:txBody>
          <a:bodyPr/>
          <a:lstStyle/>
          <a:p>
            <a:r>
              <a:rPr/>
              <a:t>Survival Analysis by Molecular Subtype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1828800" y="3200400"/>
            <a:ext cx="5486400" cy="914400"/>
          </a:xfrm>
        </p:spPr>
        <p:txBody>
          <a:bodyPr/>
          <a:lstStyle/>
          <a:p>
            <a:r>
              <a:rPr/>
              <a:t>[Figure: Kaplan-Meier survival curves, p=0.00155]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Key Finding 4: Subtype-Specific Drug Sensitivities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Key Drug Discoveries:
Venetoclax (BCL-2 inhibitor):
  • Highly sensitive in Proliferative subtype (p &lt; 10⁻²²)
Panobinostat (HDAC inhibitor):
  • Highly sensitive in Immune-Inflammatory subtype (p &lt; 10⁻¹⁸)
Overall Statistics:
• 82 drugs show subtype-specific responses (FDR &lt; 0.10)
• 160+ drugs tested across subtypes
Clinical Impact: Precision medicine opportunity
→ Match drug to subtype for optimal outcomes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548640"/>
          </a:xfrm>
        </p:spPr>
        <p:txBody>
          <a:bodyPr/>
          <a:lstStyle/>
          <a:p>
            <a:r>
              <a:rPr/>
              <a:t>Drug Sensitivity by Molecular Subtype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Clinical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Treatment Recommendations:
For Proliferative Subtype (Cluster 1):
  ✓ Venetoclax-based combinations
  ✓ MEK inhibitors (Trametinib)
  ⚠ Avoid: HDAC inhibitors (less effective)
For Immune-Inflammatory Subtype (Cluster 2):
  ✓ HDAC inhibitors (Panobinostat, Vorinostat)
  ✓ mTOR inhibitors (Everolimus)
  ⚠ Avoid: Venetoclax (less effective)
Applications:
• Risk stratification at diagnosis
• Personalized treatment planning
• Clinical trial stratification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We discovered two molecular subtypes of AML with:
✓ Distinct biological mechanisms
   (proliferative vs immune-inflammatory)
✓ Major survival differences
   (7.3 months, 62% improvement, p=0.00155)
✓ Different drug sensitivities
   (82 drugs, precision medicine opportunity)
✓ Robust statistical evidence
   (1,000 bootstraps, FDR-corrected)
✓ Clinical actionability
   (ready for validation and biomarker development)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Short-term (1-3 months):
• External validation in TCGA-LAML cohort
• Develop minimal gene signature (50-200 genes)
• Manuscript preparation
Medium-term (3-12 months):
• Clinical assay development (RT-qPCR/NanoString)
• Functional validation in cell lines
• Design subtype-stratified clinical trial
Long-term (1-2 years):
• Clinical workflow integration
• Real-world evidence collection
• Single-cell RNA-seq studies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Data Source:
• BeatAML Consortium (dbGaP: phs001657)
Sample Size:
• 478 patients with complete multi-omics profiles
Statistical Power:
• &gt;80% power for all analyses
• 1,000 bootstrap iterations
• FDR-corrected multiple testing
For more information:
See RESULTS_SUMMARY.md and FIGURE_GUIDE.md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2025-10-09T22:55:25Z</dcterms:modified>
  <cp:category/>
</cp:coreProperties>
</file>